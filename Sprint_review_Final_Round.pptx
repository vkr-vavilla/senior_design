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0" r:id="rId5"/>
    <p:sldId id="261" r:id="rId6"/>
    <p:sldId id="268" r:id="rId7"/>
    <p:sldId id="269" r:id="rId8"/>
    <p:sldId id="270" r:id="rId9"/>
    <p:sldId id="257" r:id="rId10"/>
    <p:sldId id="271" r:id="rId11"/>
    <p:sldId id="272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07E754-7853-25C7-C2E5-628E966F7226}" v="64" dt="2026-02-26T01:33:24.256"/>
    <p1510:client id="{6B2F8AE0-D472-A111-22B5-1EC1367CC3A4}" v="29" dt="2026-02-24T02:13:12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7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1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1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3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5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0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5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0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7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E01C9-6D33-4A32-921A-79B48038479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DA309-E714-431F-B3DB-1557E8246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779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avsuta-my.sharepoint.com/:w:/r/personal/cah8910_mavs_uta_edu/Documents/PrepAI_Design_Document.docx?d=w36e0c0f1493e4c4b88f92ddc0e4cc07e&amp;csf=1&amp;web=1&amp;e=BvL2Q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9083"/>
            <a:ext cx="9144000" cy="2387600"/>
          </a:xfrm>
        </p:spPr>
        <p:txBody>
          <a:bodyPr/>
          <a:lstStyle/>
          <a:p>
            <a:r>
              <a:rPr lang="en-US"/>
              <a:t>Sprint 1 Review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50E0F16-3073-5EBB-4151-F406BF1B2BA3}"/>
              </a:ext>
            </a:extLst>
          </p:cNvPr>
          <p:cNvSpPr>
            <a:spLocks noGrp="1"/>
          </p:cNvSpPr>
          <p:nvPr/>
        </p:nvSpPr>
        <p:spPr>
          <a:xfrm>
            <a:off x="1524000" y="3130062"/>
            <a:ext cx="9144000" cy="28595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>
                <a:solidFill>
                  <a:srgbClr val="FFFF00"/>
                </a:solidFill>
              </a:rPr>
              <a:t>Final Round</a:t>
            </a:r>
          </a:p>
          <a:p>
            <a:r>
              <a:rPr lang="en-US">
                <a:solidFill>
                  <a:srgbClr val="FFFF00"/>
                </a:solidFill>
              </a:rPr>
              <a:t>Ujjwal Sood</a:t>
            </a:r>
          </a:p>
          <a:p>
            <a:r>
              <a:rPr lang="en-US">
                <a:solidFill>
                  <a:srgbClr val="FFFF00"/>
                </a:solidFill>
              </a:rPr>
              <a:t>Vamshi </a:t>
            </a:r>
            <a:r>
              <a:rPr lang="en-US" err="1">
                <a:solidFill>
                  <a:srgbClr val="FFFF00"/>
                </a:solidFill>
              </a:rPr>
              <a:t>Vavilla</a:t>
            </a:r>
            <a:endParaRPr lang="en-US">
              <a:solidFill>
                <a:srgbClr val="FFFF00"/>
              </a:solidFill>
            </a:endParaRPr>
          </a:p>
          <a:p>
            <a:r>
              <a:rPr lang="en-US">
                <a:solidFill>
                  <a:srgbClr val="FFFF00"/>
                </a:solidFill>
              </a:rPr>
              <a:t>Saad Khairullah</a:t>
            </a:r>
          </a:p>
          <a:p>
            <a:r>
              <a:rPr lang="en-US">
                <a:solidFill>
                  <a:srgbClr val="FFFF00"/>
                </a:solidFill>
              </a:rPr>
              <a:t>Christian Hernandez</a:t>
            </a:r>
          </a:p>
          <a:p>
            <a:r>
              <a:rPr lang="en-US">
                <a:solidFill>
                  <a:srgbClr val="FFFF00"/>
                </a:solidFill>
              </a:rPr>
              <a:t>Deep Avaiya </a:t>
            </a:r>
          </a:p>
          <a:p>
            <a:r>
              <a:rPr lang="en-US">
                <a:solidFill>
                  <a:srgbClr val="FFFF00"/>
                </a:solidFill>
              </a:rPr>
              <a:t>Abel Sanchez</a:t>
            </a:r>
          </a:p>
          <a:p>
            <a:endParaRPr lang="en-US">
              <a:solidFill>
                <a:srgbClr val="FFFF00"/>
              </a:solidFill>
            </a:endParaRPr>
          </a:p>
          <a:p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65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2E49-EAAF-F101-3E8F-B16051FEC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00"/>
                </a:solidFill>
              </a:rPr>
              <a:t>Notes &amp;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B9838-D855-0F80-48F8-9AF4F2332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74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solidFill>
                <a:srgbClr val="FFFF00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FFFF00"/>
                </a:solidFill>
              </a:rPr>
              <a:t>All documentation has been </a:t>
            </a:r>
            <a:r>
              <a:rPr lang="en-US" err="1">
                <a:solidFill>
                  <a:srgbClr val="FFFF00"/>
                </a:solidFill>
              </a:rPr>
              <a:t>comple</a:t>
            </a:r>
            <a:r>
              <a:rPr lang="en-US">
                <a:solidFill>
                  <a:srgbClr val="FFFF00"/>
                </a:solidFill>
              </a:rPr>
              <a:t>ted</a:t>
            </a:r>
            <a:endParaRPr lang="en-US"/>
          </a:p>
          <a:p>
            <a:r>
              <a:rPr lang="en-US">
                <a:solidFill>
                  <a:srgbClr val="FFFF00"/>
                </a:solidFill>
              </a:rPr>
              <a:t>Next step is to begin with our initial build of the app, and to keep learning the technolo</a:t>
            </a:r>
            <a:r>
              <a:rPr lang="en-US">
                <a:solidFill>
                  <a:srgbClr val="FFFF00"/>
                </a:solidFill>
                <a:ea typeface="Calibri"/>
                <a:cs typeface="Calibri"/>
              </a:rPr>
              <a:t>gies</a:t>
            </a:r>
            <a:r>
              <a:rPr lang="en-US">
                <a:solidFill>
                  <a:srgbClr val="FFFF00"/>
                </a:solidFill>
              </a:rPr>
              <a:t> were going to use</a:t>
            </a:r>
            <a:endParaRPr lang="en-US">
              <a:solidFill>
                <a:srgbClr val="FFFF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507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Do a deep research on the amount of datasets available and zeroing on the models to choose as well as complete project charter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2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Backlog Items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4346"/>
              </p:ext>
            </p:extLst>
          </p:nvPr>
        </p:nvGraphicFramePr>
        <p:xfrm>
          <a:off x="838200" y="1825625"/>
          <a:ext cx="10515600" cy="2666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Backlog</a:t>
                      </a:r>
                      <a:r>
                        <a:rPr lang="en-US" baseline="0"/>
                        <a:t> Item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Research on the amount of clean data available online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76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Project Charter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Figuring out basic architecture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Setting up accounts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22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Backlog for Research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685663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Backlog</a:t>
                      </a:r>
                      <a:r>
                        <a:rPr lang="en-US" baseline="0"/>
                        <a:t> Item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Research about legal datasets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Research models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Learning the basic LM tools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 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Research for scalable system architectures and automation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 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11D345-4295-B1B3-A2CE-FB47407B4F72}"/>
              </a:ext>
            </a:extLst>
          </p:cNvPr>
          <p:cNvSpPr txBox="1"/>
          <p:nvPr/>
        </p:nvSpPr>
        <p:spPr>
          <a:xfrm>
            <a:off x="837695" y="4430701"/>
            <a:ext cx="7539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This is the document that we have included our research in: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  <a:hlinkClick r:id="rId2"/>
              </a:rPr>
              <a:t>PrepAI_Design_Document.docx</a:t>
            </a:r>
            <a:br>
              <a:rPr lang="en-US" dirty="0">
                <a:ea typeface="Calibri"/>
                <a:cs typeface="Calibri"/>
              </a:rPr>
            </a:b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86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1F95-A2A0-42BC-0CBB-8B9C61BE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ADDA-7365-48FC-0EB8-C82DE381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Backlog for Charter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06A0F2-0881-F1BF-55C0-58B3100AE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227962"/>
              </p:ext>
            </p:extLst>
          </p:nvPr>
        </p:nvGraphicFramePr>
        <p:xfrm>
          <a:off x="838200" y="1825625"/>
          <a:ext cx="10515600" cy="3672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Backlog</a:t>
                      </a:r>
                      <a:r>
                        <a:rPr lang="en-US" baseline="0"/>
                        <a:t> Item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Program methodology and value proposition milestones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Development Milestones background and related work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System overview, roles and responsibilities 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Cost proposal, facilities and equipment 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Assumptions, constraints and risks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 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88463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EAEFF7"/>
                          </a:highlight>
                          <a:latin typeface="Calibri"/>
                          <a:ea typeface="Calibri"/>
                          <a:cs typeface="Calibri"/>
                        </a:rPr>
                        <a:t>Documentation and reporting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 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80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71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9224-6825-6BC6-4A4F-09A045AD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78C44-F05B-0867-7616-6D34F6E8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Backlog for </a:t>
            </a:r>
            <a:r>
              <a:rPr lang="en-US">
                <a:ea typeface="+mj-lt"/>
                <a:cs typeface="+mj-lt"/>
              </a:rPr>
              <a:t>Basic Architecture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5FC86E-5A08-BA4A-FD7E-E02BE16BC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533961"/>
              </p:ext>
            </p:extLst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Backlog</a:t>
                      </a:r>
                      <a:r>
                        <a:rPr lang="en-US" baseline="0"/>
                        <a:t> Item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Figuring out IPC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Figuring out languages and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System overview, roles and responsibilities 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6 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Brainstorming a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 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69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A55D-F679-8833-D407-C1EBAB7F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E9DD4-657B-C8C4-1585-2B7B7AD9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Backlog for </a:t>
            </a:r>
            <a:r>
              <a:rPr lang="en-US">
                <a:ea typeface="+mj-lt"/>
                <a:cs typeface="+mj-lt"/>
              </a:rPr>
              <a:t>Setting up Accounts 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12645E-7A84-9E27-FC16-77CF05E891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1423160"/>
              </p:ext>
            </p:extLst>
          </p:nvPr>
        </p:nvGraphicFramePr>
        <p:xfrm>
          <a:off x="838200" y="1825625"/>
          <a:ext cx="10515600" cy="2736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169">
                <a:tc>
                  <a:txBody>
                    <a:bodyPr/>
                    <a:lstStyle/>
                    <a:p>
                      <a:r>
                        <a:rPr lang="en-US"/>
                        <a:t>Backlog</a:t>
                      </a:r>
                      <a:r>
                        <a:rPr lang="en-US" baseline="0"/>
                        <a:t> Item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45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Setting up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.5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Discord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1/12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1/12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Github</a:t>
                      </a: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1/6 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1/6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1/12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1/12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Overleaf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1/6 Hours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D2DEEF"/>
                          </a:highlight>
                          <a:latin typeface="Calibri"/>
                          <a:ea typeface="Calibri"/>
                          <a:cs typeface="Calibri"/>
                        </a:rPr>
                        <a:t>1/6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528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28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Burn Down Chart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2EE80E-72A2-BABD-39FC-7015F45A8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018" y="1500987"/>
            <a:ext cx="10159436" cy="49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73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2AEFE-DD46-2752-36EF-B8B60C44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9CC6-6EB9-255E-74C7-626035DA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Burndown Chart Summary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1954-E961-063A-B6E4-96ED592FE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What it shows: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Remaining sprint work items each day (Feb 16–Feb 23). Ideal = planned steady burn, Actual = real progress.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Deviation from plan: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Yes. Progress happened in </a:t>
            </a: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clusters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instead of a smooth daily burn.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Days with no progress: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Yes. Several days were </a:t>
            </a: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flat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(no items moved to Done), due to integration/review/dependencies.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Estimate accuracy: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We tracked by </a:t>
            </a: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item count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(not story points), so overall delivery was strong, but pacing was harder to predict; next sprint use </a:t>
            </a:r>
            <a:r>
              <a:rPr lang="en-US" b="1">
                <a:solidFill>
                  <a:srgbClr val="FFFF00"/>
                </a:solidFill>
                <a:ea typeface="+mn-lt"/>
                <a:cs typeface="+mn-lt"/>
              </a:rPr>
              <a:t>story points + smaller tickets</a:t>
            </a:r>
            <a:r>
              <a:rPr lang="en-US">
                <a:solidFill>
                  <a:srgbClr val="FFFF00"/>
                </a:solidFill>
                <a:ea typeface="+mn-lt"/>
                <a:cs typeface="+mn-lt"/>
              </a:rPr>
              <a:t> for better accuracy.</a:t>
            </a:r>
            <a:endParaRPr lang="en-US"/>
          </a:p>
          <a:p>
            <a:pPr marL="0" indent="0">
              <a:buNone/>
            </a:pPr>
            <a:endParaRPr lang="en-US">
              <a:solidFill>
                <a:srgbClr val="FFFF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5800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9869-9E54-1DCD-E95D-23F83623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Demo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FF69-E21B-06E9-65EB-CF3225338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Link_to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2516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9840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419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Sprint 1 Review</vt:lpstr>
      <vt:lpstr>Notes &amp; Guidelines</vt:lpstr>
      <vt:lpstr>Sprint Goal</vt:lpstr>
      <vt:lpstr>Product Backlog Items</vt:lpstr>
      <vt:lpstr>Sprint Backlog for Research</vt:lpstr>
      <vt:lpstr>Sprint Backlog for Charter</vt:lpstr>
      <vt:lpstr>Sprint Backlog for Basic Architecture</vt:lpstr>
      <vt:lpstr>Sprint Backlog for Setting up Accounts </vt:lpstr>
      <vt:lpstr>Sprint Burn Down Chart</vt:lpstr>
      <vt:lpstr>Burndown Chart Summary</vt:lpstr>
      <vt:lpstr>Demo</vt:lpstr>
      <vt:lpstr>Questions?</vt:lpstr>
    </vt:vector>
  </TitlesOfParts>
  <Company>University of Texas at Arlington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</dc:title>
  <dc:creator>GAANN4</dc:creator>
  <cp:lastModifiedBy>Sood, Ujjwal</cp:lastModifiedBy>
  <cp:revision>27</cp:revision>
  <dcterms:created xsi:type="dcterms:W3CDTF">2019-01-22T04:05:43Z</dcterms:created>
  <dcterms:modified xsi:type="dcterms:W3CDTF">2026-02-26T01:33:39Z</dcterms:modified>
</cp:coreProperties>
</file>